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cipri\Desktop\Module1\&#1055;&#1088;&#1072;&#1082;&#1090;&#1080;&#1095;&#1077;&#1089;&#1082;&#1072;&#1103;%20&#1088;&#1072;&#1073;&#1086;&#1090;&#1072;%201-1\Superstore_Analysi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ipri\Desktop\Module1\&#1055;&#1088;&#1072;&#1082;&#1090;&#1080;&#1095;&#1077;&#1089;&#1082;&#1072;&#1103;%20&#1088;&#1072;&#1073;&#1086;&#1090;&#1072;%201-1\Superstore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ipri\Desktop\Module1\&#1055;&#1088;&#1072;&#1082;&#1090;&#1080;&#1095;&#1077;&#1089;&#1082;&#1072;&#1103;%20&#1088;&#1072;&#1073;&#1086;&#1090;&#1072;%201-1\Superstore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[Superstore_Analysis.xlsx]Person vs Segment!Person vs Segment</c:name>
    <c:fmtId val="5"/>
  </c:pivotSource>
  <c:chart>
    <c:title>
      <c:tx>
        <c:rich>
          <a:bodyPr/>
          <a:lstStyle/>
          <a:p>
            <a:pPr>
              <a:defRPr sz="1400" b="1">
                <a:solidFill>
                  <a:sysClr val="windowText" lastClr="000000"/>
                </a:solidFill>
              </a:defRPr>
            </a:pPr>
            <a:r>
              <a:rPr lang="ru-RU" sz="1400" b="1">
                <a:solidFill>
                  <a:sysClr val="windowText" lastClr="000000"/>
                </a:solidFill>
              </a:rPr>
              <a:t>Выручка менеджеров</a:t>
            </a:r>
            <a:r>
              <a:rPr lang="ru-RU" sz="1400" b="1" baseline="0">
                <a:solidFill>
                  <a:sysClr val="windowText" lastClr="000000"/>
                </a:solidFill>
              </a:rPr>
              <a:t> по сегментам</a:t>
            </a:r>
            <a:endParaRPr lang="ru-RU" sz="1400" b="1">
              <a:solidFill>
                <a:sysClr val="windowText" lastClr="000000"/>
              </a:solidFill>
            </a:endParaRPr>
          </a:p>
        </c:rich>
      </c:tx>
      <c:overlay val="0"/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'Person vs Segment'!$B$1:$B$2</c:f>
              <c:strCache>
                <c:ptCount val="1"/>
                <c:pt idx="0">
                  <c:v>Consumer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'Person vs Segment'!$A$3:$A$6</c:f>
              <c:strCache>
                <c:ptCount val="4"/>
                <c:pt idx="0">
                  <c:v>Anna Andreadi</c:v>
                </c:pt>
                <c:pt idx="1">
                  <c:v>Cassandra Brandow</c:v>
                </c:pt>
                <c:pt idx="2">
                  <c:v>Chuck Magee</c:v>
                </c:pt>
                <c:pt idx="3">
                  <c:v>Kelly Williams</c:v>
                </c:pt>
              </c:strCache>
            </c:strRef>
          </c:cat>
          <c:val>
            <c:numRef>
              <c:f>'Person vs Segment'!$B$3:$B$6</c:f>
              <c:numCache>
                <c:formatCode>[$$-409]#\ ##0.00</c:formatCode>
                <c:ptCount val="4"/>
                <c:pt idx="0">
                  <c:v>57450.604000000101</c:v>
                </c:pt>
                <c:pt idx="1">
                  <c:v>26913.572799999987</c:v>
                </c:pt>
                <c:pt idx="2">
                  <c:v>41190.984300000004</c:v>
                </c:pt>
                <c:pt idx="3">
                  <c:v>8564.0480999999945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52-4D4C-96A3-BFB8B12954B6}"/>
            </c:ext>
          </c:extLst>
        </c:ser>
        <c:ser>
          <c:idx val="1"/>
          <c:order val="1"/>
          <c:tx>
            <c:strRef>
              <c:f>'Person vs Segment'!$C$1:$C$2</c:f>
              <c:strCache>
                <c:ptCount val="1"/>
                <c:pt idx="0">
                  <c:v>Corporate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'Person vs Segment'!$A$3:$A$6</c:f>
              <c:strCache>
                <c:ptCount val="4"/>
                <c:pt idx="0">
                  <c:v>Anna Andreadi</c:v>
                </c:pt>
                <c:pt idx="1">
                  <c:v>Cassandra Brandow</c:v>
                </c:pt>
                <c:pt idx="2">
                  <c:v>Chuck Magee</c:v>
                </c:pt>
                <c:pt idx="3">
                  <c:v>Kelly Williams</c:v>
                </c:pt>
              </c:strCache>
            </c:strRef>
          </c:cat>
          <c:val>
            <c:numRef>
              <c:f>'Person vs Segment'!$C$3:$C$6</c:f>
              <c:numCache>
                <c:formatCode>[$$-409]#\ ##0.00</c:formatCode>
                <c:ptCount val="4"/>
                <c:pt idx="0">
                  <c:v>34437.429900000017</c:v>
                </c:pt>
                <c:pt idx="1">
                  <c:v>15215.223199999989</c:v>
                </c:pt>
                <c:pt idx="2">
                  <c:v>23622.578900000022</c:v>
                </c:pt>
                <c:pt idx="3">
                  <c:v>18703.902000000027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52-4D4C-96A3-BFB8B12954B6}"/>
            </c:ext>
          </c:extLst>
        </c:ser>
        <c:ser>
          <c:idx val="2"/>
          <c:order val="2"/>
          <c:tx>
            <c:strRef>
              <c:f>'Person vs Segment'!$D$1:$D$2</c:f>
              <c:strCache>
                <c:ptCount val="1"/>
                <c:pt idx="0">
                  <c:v>Home Office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'Person vs Segment'!$A$3:$A$6</c:f>
              <c:strCache>
                <c:ptCount val="4"/>
                <c:pt idx="0">
                  <c:v>Anna Andreadi</c:v>
                </c:pt>
                <c:pt idx="1">
                  <c:v>Cassandra Brandow</c:v>
                </c:pt>
                <c:pt idx="2">
                  <c:v>Chuck Magee</c:v>
                </c:pt>
                <c:pt idx="3">
                  <c:v>Kelly Williams</c:v>
                </c:pt>
              </c:strCache>
            </c:strRef>
          </c:cat>
          <c:val>
            <c:numRef>
              <c:f>'Person vs Segment'!$D$3:$D$6</c:f>
              <c:numCache>
                <c:formatCode>[$$-409]#\ ##0.00</c:formatCode>
                <c:ptCount val="4"/>
                <c:pt idx="0">
                  <c:v>16530.41499999999</c:v>
                </c:pt>
                <c:pt idx="1">
                  <c:v>4620.6342999999979</c:v>
                </c:pt>
                <c:pt idx="2">
                  <c:v>26709.216799999991</c:v>
                </c:pt>
                <c:pt idx="3">
                  <c:v>12438.412400000005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52-4D4C-96A3-BFB8B12954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52337615"/>
        <c:axId val="1"/>
      </c:barChart>
      <c:catAx>
        <c:axId val="1952337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"/>
        <c:crosses val="autoZero"/>
        <c:auto val="0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409]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52337615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[Superstore_Analysis.xlsx]Выручка по сегментам!Доля продаж по сегментам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ru-RU" sz="1400" b="1" i="0" u="none" strike="noStrike" kern="1200" spc="0" baseline="0">
                <a:solidFill>
                  <a:sysClr val="windowText" lastClr="000000"/>
                </a:solidFill>
              </a:rPr>
              <a:t>Доля продаж менеджеров по сегментам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'Выручка по сегментам'!$B$25:$B$26</c:f>
              <c:strCache>
                <c:ptCount val="1"/>
                <c:pt idx="0">
                  <c:v>Consumer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'Выручка по сегментам'!$A$27:$A$31</c:f>
              <c:strCache>
                <c:ptCount val="4"/>
                <c:pt idx="0">
                  <c:v>Anna Andreadi</c:v>
                </c:pt>
                <c:pt idx="1">
                  <c:v>Cassandra Brandow</c:v>
                </c:pt>
                <c:pt idx="2">
                  <c:v>Chuck Magee</c:v>
                </c:pt>
                <c:pt idx="3">
                  <c:v>Kelly Williams</c:v>
                </c:pt>
              </c:strCache>
            </c:strRef>
          </c:cat>
          <c:val>
            <c:numRef>
              <c:f>'Выручка по сегментам'!$B$27:$B$31</c:f>
              <c:numCache>
                <c:formatCode>0%</c:formatCode>
                <c:ptCount val="4"/>
                <c:pt idx="0">
                  <c:v>0.15796649708402519</c:v>
                </c:pt>
                <c:pt idx="1">
                  <c:v>8.5138820196357767E-2</c:v>
                </c:pt>
                <c:pt idx="2">
                  <c:v>0.15275467333499695</c:v>
                </c:pt>
                <c:pt idx="3">
                  <c:v>0.10971240623995161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B9-4FAF-B861-E3284F3247DA}"/>
            </c:ext>
          </c:extLst>
        </c:ser>
        <c:ser>
          <c:idx val="1"/>
          <c:order val="1"/>
          <c:tx>
            <c:strRef>
              <c:f>'Выручка по сегментам'!$C$25:$C$26</c:f>
              <c:strCache>
                <c:ptCount val="1"/>
                <c:pt idx="0">
                  <c:v>Corporate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'Выручка по сегментам'!$A$27:$A$31</c:f>
              <c:strCache>
                <c:ptCount val="4"/>
                <c:pt idx="0">
                  <c:v>Anna Andreadi</c:v>
                </c:pt>
                <c:pt idx="1">
                  <c:v>Cassandra Brandow</c:v>
                </c:pt>
                <c:pt idx="2">
                  <c:v>Chuck Magee</c:v>
                </c:pt>
                <c:pt idx="3">
                  <c:v>Kelly Williams</c:v>
                </c:pt>
              </c:strCache>
            </c:strRef>
          </c:cat>
          <c:val>
            <c:numRef>
              <c:f>'Выручка по сегментам'!$C$27:$C$31</c:f>
              <c:numCache>
                <c:formatCode>0%</c:formatCode>
                <c:ptCount val="4"/>
                <c:pt idx="0">
                  <c:v>9.8317599650604506E-2</c:v>
                </c:pt>
                <c:pt idx="1">
                  <c:v>5.3058456753356104E-2</c:v>
                </c:pt>
                <c:pt idx="2">
                  <c:v>8.7240672099446998E-2</c:v>
                </c:pt>
                <c:pt idx="3">
                  <c:v>6.8777535099550091E-2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B9-4FAF-B861-E3284F3247DA}"/>
            </c:ext>
          </c:extLst>
        </c:ser>
        <c:ser>
          <c:idx val="2"/>
          <c:order val="2"/>
          <c:tx>
            <c:strRef>
              <c:f>'Выручка по сегментам'!$D$25:$D$26</c:f>
              <c:strCache>
                <c:ptCount val="1"/>
                <c:pt idx="0">
                  <c:v>Home Office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'Выручка по сегментам'!$A$27:$A$31</c:f>
              <c:strCache>
                <c:ptCount val="4"/>
                <c:pt idx="0">
                  <c:v>Anna Andreadi</c:v>
                </c:pt>
                <c:pt idx="1">
                  <c:v>Cassandra Brandow</c:v>
                </c:pt>
                <c:pt idx="2">
                  <c:v>Chuck Magee</c:v>
                </c:pt>
                <c:pt idx="3">
                  <c:v>Kelly Williams</c:v>
                </c:pt>
              </c:strCache>
            </c:strRef>
          </c:cat>
          <c:val>
            <c:numRef>
              <c:f>'Выручка по сегментам'!$D$27:$D$31</c:f>
              <c:numCache>
                <c:formatCode>0%</c:formatCode>
                <c:ptCount val="4"/>
                <c:pt idx="0">
                  <c:v>5.9516683700938905E-2</c:v>
                </c:pt>
                <c:pt idx="1">
                  <c:v>3.2324122275621453E-2</c:v>
                </c:pt>
                <c:pt idx="2">
                  <c:v>5.5486539380519798E-2</c:v>
                </c:pt>
                <c:pt idx="3">
                  <c:v>3.9705994184630458E-2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B9-4FAF-B861-E3284F3247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7743823"/>
        <c:axId val="1997744783"/>
      </c:barChart>
      <c:catAx>
        <c:axId val="1997743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97744783"/>
        <c:crosses val="autoZero"/>
        <c:auto val="1"/>
        <c:lblAlgn val="ctr"/>
        <c:lblOffset val="100"/>
        <c:noMultiLvlLbl val="0"/>
      </c:catAx>
      <c:valAx>
        <c:axId val="199774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97743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[Superstore_Analysis.xlsx]Выручка по сегментам!Доля возвратов по сегментам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ru-RU" b="1">
                <a:solidFill>
                  <a:sysClr val="windowText" lastClr="000000"/>
                </a:solidFill>
              </a:rPr>
              <a:t>Доля возвратов</a:t>
            </a:r>
            <a:r>
              <a:rPr lang="ru-RU" b="1" baseline="0">
                <a:solidFill>
                  <a:sysClr val="windowText" lastClr="000000"/>
                </a:solidFill>
              </a:rPr>
              <a:t> менеджеров по сегментам</a:t>
            </a:r>
            <a:endParaRPr lang="ru-RU" b="1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'Выручка по сегментам'!$M$3:$M$4</c:f>
              <c:strCache>
                <c:ptCount val="1"/>
                <c:pt idx="0">
                  <c:v>Consumer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'Выручка по сегментам'!$L$5:$L$9</c:f>
              <c:strCache>
                <c:ptCount val="4"/>
                <c:pt idx="0">
                  <c:v>Anna Andreadi</c:v>
                </c:pt>
                <c:pt idx="1">
                  <c:v>Cassandra Brandow</c:v>
                </c:pt>
                <c:pt idx="2">
                  <c:v>Chuck Magee</c:v>
                </c:pt>
                <c:pt idx="3">
                  <c:v>Kelly Williams</c:v>
                </c:pt>
              </c:strCache>
            </c:strRef>
          </c:cat>
          <c:val>
            <c:numRef>
              <c:f>'Выручка по сегментам'!$M$5:$M$9</c:f>
              <c:numCache>
                <c:formatCode>0%</c:formatCode>
                <c:ptCount val="4"/>
                <c:pt idx="0">
                  <c:v>0.16730038022813687</c:v>
                </c:pt>
                <c:pt idx="1">
                  <c:v>8.3850310186111665E-2</c:v>
                </c:pt>
                <c:pt idx="2">
                  <c:v>0.14698819291574944</c:v>
                </c:pt>
                <c:pt idx="3">
                  <c:v>0.12127276365819492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95-42AF-A2BF-CF391BD07B64}"/>
            </c:ext>
          </c:extLst>
        </c:ser>
        <c:ser>
          <c:idx val="1"/>
          <c:order val="1"/>
          <c:tx>
            <c:strRef>
              <c:f>'Выручка по сегментам'!$N$3:$N$4</c:f>
              <c:strCache>
                <c:ptCount val="1"/>
                <c:pt idx="0">
                  <c:v>Corporate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'Выручка по сегментам'!$L$5:$L$9</c:f>
              <c:strCache>
                <c:ptCount val="4"/>
                <c:pt idx="0">
                  <c:v>Anna Andreadi</c:v>
                </c:pt>
                <c:pt idx="1">
                  <c:v>Cassandra Brandow</c:v>
                </c:pt>
                <c:pt idx="2">
                  <c:v>Chuck Magee</c:v>
                </c:pt>
                <c:pt idx="3">
                  <c:v>Kelly Williams</c:v>
                </c:pt>
              </c:strCache>
            </c:strRef>
          </c:cat>
          <c:val>
            <c:numRef>
              <c:f>'Выручка по сегментам'!$N$5:$N$9</c:f>
              <c:numCache>
                <c:formatCode>0%</c:formatCode>
                <c:ptCount val="4"/>
                <c:pt idx="0">
                  <c:v>9.6057634580748452E-2</c:v>
                </c:pt>
                <c:pt idx="1">
                  <c:v>5.1030618371022615E-2</c:v>
                </c:pt>
                <c:pt idx="2">
                  <c:v>8.7752651590954578E-2</c:v>
                </c:pt>
                <c:pt idx="3">
                  <c:v>6.7340404242545532E-2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95-42AF-A2BF-CF391BD07B64}"/>
            </c:ext>
          </c:extLst>
        </c:ser>
        <c:ser>
          <c:idx val="2"/>
          <c:order val="2"/>
          <c:tx>
            <c:strRef>
              <c:f>'Выручка по сегментам'!$O$3:$O$4</c:f>
              <c:strCache>
                <c:ptCount val="1"/>
                <c:pt idx="0">
                  <c:v>Home Office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'Выручка по сегментам'!$L$5:$L$9</c:f>
              <c:strCache>
                <c:ptCount val="4"/>
                <c:pt idx="0">
                  <c:v>Anna Andreadi</c:v>
                </c:pt>
                <c:pt idx="1">
                  <c:v>Cassandra Brandow</c:v>
                </c:pt>
                <c:pt idx="2">
                  <c:v>Chuck Magee</c:v>
                </c:pt>
                <c:pt idx="3">
                  <c:v>Kelly Williams</c:v>
                </c:pt>
              </c:strCache>
            </c:strRef>
          </c:cat>
          <c:val>
            <c:numRef>
              <c:f>'Выручка по сегментам'!$O$5:$O$9</c:f>
              <c:numCache>
                <c:formatCode>0%</c:formatCode>
                <c:ptCount val="4"/>
                <c:pt idx="0">
                  <c:v>5.7134280568341002E-2</c:v>
                </c:pt>
                <c:pt idx="1">
                  <c:v>2.7216329797878726E-2</c:v>
                </c:pt>
                <c:pt idx="2">
                  <c:v>5.0230138082849707E-2</c:v>
                </c:pt>
                <c:pt idx="3">
                  <c:v>4.3826295777466481E-2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95-42AF-A2BF-CF391BD07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7777903"/>
        <c:axId val="1997780783"/>
      </c:barChart>
      <c:catAx>
        <c:axId val="199777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97780783"/>
        <c:crosses val="autoZero"/>
        <c:auto val="1"/>
        <c:lblAlgn val="ctr"/>
        <c:lblOffset val="100"/>
        <c:noMultiLvlLbl val="0"/>
      </c:catAx>
      <c:valAx>
        <c:axId val="1997780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9777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A8AA35-7731-A96F-2FA6-FB0813C8B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DAF671-DA2E-2C90-AF4A-29087308E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BBF51B-6802-EFFD-2746-ADD02A12D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8EBC-1F2B-4369-832F-CB0B505F2E2E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50408E-D61E-8CAB-4E67-CCE4225CE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40C9AF-8CE1-84D5-0BE8-54FC6B51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5E5DC-62E4-4371-82C7-7D08C1CB7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88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112CE-D67D-E824-D3F1-5C54119CF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7D02A8-BC88-E99D-A47B-E359AA4C6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375799-0166-929B-E1E9-142A10BE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8EBC-1F2B-4369-832F-CB0B505F2E2E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256DE0-032B-84AD-1C20-A5762B434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9AE7F3-6160-A4AC-D902-BF2248F7C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5E5DC-62E4-4371-82C7-7D08C1CB7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00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E0EE9-D778-25DA-4B31-6ED88401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7FC820-E603-4941-231E-2872A3C65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563BD-244B-450E-2828-B2B450AE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8EBC-1F2B-4369-832F-CB0B505F2E2E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BF0224-7C40-3342-64D5-F0EEE3DCD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9CD887-8B9C-CE0A-D7B4-C8DD42A2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5E5DC-62E4-4371-82C7-7D08C1CB7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990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657E1-F52F-B47F-A119-76AA6D10D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DDF94F-6AD2-BD0C-21D5-BB777967C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64B764-E76A-6172-2C8B-3FBD07A0D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63EB19-ABCC-F4DE-B711-DA56F910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8EBC-1F2B-4369-832F-CB0B505F2E2E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45B487-1436-118E-79B1-3D2269816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7382B1-95D4-1A7E-DDD2-FE81999F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5E5DC-62E4-4371-82C7-7D08C1CB7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146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65403-7A3F-6844-31C6-8283CBB3E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8AADB0-4A27-1AC1-2DF1-2D37AF2AE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C709D99-6D70-9060-8A19-F37BB4B58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B65DF4-D61F-E872-58A5-CF3600F27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60688C-4E29-2FB2-FD38-A73BE9993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5289C34-A664-2FAD-9903-46C177CA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8EBC-1F2B-4369-832F-CB0B505F2E2E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EF36187-5A9A-FE29-D82C-69BB9194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293FEB0-9AB1-DEFF-6174-F0AF0B43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5E5DC-62E4-4371-82C7-7D08C1CB7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147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9E8B6-8F47-30A6-BD6B-01D921210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8F6DC62-965F-F6C3-7219-A7944AF8F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8EBC-1F2B-4369-832F-CB0B505F2E2E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5DF0804-AD64-8BC5-77C0-8464B3F3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F046C7-E694-2C20-41FB-3F6389EF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5E5DC-62E4-4371-82C7-7D08C1CB7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30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56ACDC-38EF-743B-BD14-8B17B25AE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8EBC-1F2B-4369-832F-CB0B505F2E2E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8B56F6-DEEB-0629-CA9A-ECC5A4923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B39788-3CD4-0EEC-2485-00E4561C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5E5DC-62E4-4371-82C7-7D08C1CB7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22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9D8ECA-21C2-CFDB-7144-16012AF46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9840DF-897F-8971-DFEC-AAE309D66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F5F1F2-1EA9-DBE5-B293-2E93C5F2B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6B5004-457D-8FC2-0072-444CEF354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8EBC-1F2B-4369-832F-CB0B505F2E2E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31E79B-E2F3-6661-5333-CF03C7111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5570BF-32D5-2798-1653-F6ED6310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5E5DC-62E4-4371-82C7-7D08C1CB7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11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F5417-96A9-1BE1-44AF-45DAC6D2A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4A795C-B2E0-41FB-28F6-F5F0BE582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0F6BFC-02EB-26BC-0B27-4C2B3ACDF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4B3DAC-75CB-E619-F29D-BB51626A3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8EBC-1F2B-4369-832F-CB0B505F2E2E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F74C1BE-234D-4167-3627-9E227B91F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3E4CC3-FBA9-998F-C5B4-F4B8B90A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5E5DC-62E4-4371-82C7-7D08C1CB7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94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85BA9D-D87D-D5A7-CE25-0EA40EB9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3749FC-1C32-7344-3E76-E9DEF623D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FFDFE0-1122-0871-07D5-03E5C2B8A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8EBC-1F2B-4369-832F-CB0B505F2E2E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6B1FAC-7A3E-4AA9-30A6-5A8E9F96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9D1063-768D-8B8C-8855-8017047A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5E5DC-62E4-4371-82C7-7D08C1CB7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812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564ED57-A139-3054-15A0-338A50E85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CF815D-8C0A-31CC-0B8A-9F868B4EE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6983CB-E430-E76B-E4C4-03044917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8EBC-1F2B-4369-832F-CB0B505F2E2E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FE9130-A7D9-7270-FE52-A68F44E79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25ABE8-A8EE-0A4D-911E-B83AEBC9C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5E5DC-62E4-4371-82C7-7D08C1CB7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463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A9916F-A93A-06CF-1EA0-2F062A1F5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385E62-5972-6521-1A7E-1FF2FBFC3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C8B6BC-AC45-2BBC-5C84-488F2C04B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28EBC-1F2B-4369-832F-CB0B505F2E2E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C9E853-CE3D-829B-B2A2-6E75589B8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EB1772-B386-0BDF-82E2-77B3184D0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5E5DC-62E4-4371-82C7-7D08C1CB79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46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A49F5-8594-C282-B054-28C00073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"Специализация менеджеров : ключ к эффективности продаж . 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2931ED-2581-6200-845A-C063950EBD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 сегмент является основным источником прибыли для всех менеджеров, особенно для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Andreadi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($57,450.60) и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Chuck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Magee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($41,190.98)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Cassandra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Brandow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демонстрирует высокую специализацию в Consumer сегменте (наибольшая доля прибыли по сравнению с другими сегментами)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Andreadi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имеет наибольшую общую прибыль ($108,418.45), но ее высокая прибыль в Consumer сегменте сопровождается значительными объемами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Kelly Williams показывает наименьшую прибыль во всех сегментах ($39,706.36 общий итог)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D62E3DC-827A-40A2-A408-1B0A27C4F23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38054386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35273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DFFADB-7D91-B7C6-D577-4670F1F8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F1458F-55A0-4F28-DB1D-8BE9C0A64B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Andreadi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имеет наибольшую долю продаж в Consumer сегменте (около 16%)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Cassandra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Brandow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показывает относительно низкую долю продаж в Consumer сегменте (около 8%), но при этом имеет высокую прибыль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Chuck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Magee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имеет значительную долю продаж в Consumer сегменте (около 15%) и хорошо сбалансированную работу по сегментам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Corporate сегмент составляет значительную долю продаж для всех менеджеров, но особенно для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Chuck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Magee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Office сегмент имеет низкую долю во всех портфелях менеджеров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1760E4CE-774F-4436-ACF6-FF02447F9A6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62220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6A7B0-9862-6B07-9F20-7E23CA5B6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625192-50A8-E5A6-B1F6-3660C1DC6E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 сегмент имеет самый высокий уровень возвратов у всех менеджеров (17% у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Andreadi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14% у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Chuck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Magee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Cassandra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Brandow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имеет самый низкий уровень возвратов в Consumer сегменте (около 8%), что контрастирует с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Andreadi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(17%)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Corporate сегмент демонстрирует умеренный уровень возвратов (9-10%)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Home Office сегмент имеет низкий уровень возвратов, но и низкую долю в общей выручке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AB5C6F04-5B1D-4BCB-B2DB-D3C4D014E09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7932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68DB2-3B69-D8F6-916E-C5EAE388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C8126C-4469-1F47-9A24-750F1616B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Специализация повышает эффективность: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Cassandra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Brandow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специализирующаяся на Consumer сегменте, показывает более высокую рентабельность и низкий уровень возвратов по сравнению с универсальным менеджером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Andreadi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имеющим схожую долю продаж в этом сегменте.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прибыль ≠ высокая эффективность: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Andreadi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несмотря на высокую прибыль, имеет самый высокий уровень возвратов (17%), что снижает реальную эффективность ее работы.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Corporate сегмент как оптимальный выбор: Имеет умеренный уровень возвратов при относительно высокой прибыли, что делает его перспективным направлением для развития.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с Home Office сегментом: Низкая доля в выручке и продажах указывает на необходимость пересмотра стратегии работы с этим сегментом.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6314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355</Words>
  <Application>Microsoft Office PowerPoint</Application>
  <PresentationFormat>Широкоэкранный</PresentationFormat>
  <Paragraphs>22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Тема Office</vt:lpstr>
      <vt:lpstr>"Специализация менеджеров : ключ к эффективности продаж . "</vt:lpstr>
      <vt:lpstr>Презентация PowerPoint</vt:lpstr>
      <vt:lpstr>Презентация PowerPoint</vt:lpstr>
      <vt:lpstr>Ключевые 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Циприков</dc:creator>
  <cp:lastModifiedBy>Денис Циприков</cp:lastModifiedBy>
  <cp:revision>2</cp:revision>
  <dcterms:created xsi:type="dcterms:W3CDTF">2025-10-26T16:43:39Z</dcterms:created>
  <dcterms:modified xsi:type="dcterms:W3CDTF">2025-10-28T00:32:39Z</dcterms:modified>
</cp:coreProperties>
</file>